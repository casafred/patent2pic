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920240"/>
            <a:ext cx="73152" cy="292608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920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Patent2Pic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专利功能分解图生成工具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3749040"/>
            <a:ext cx="2286000" cy="27432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将专利权利要求文本自动转换为可视化结构图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功能特性 &amp; 工作流程概览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463040"/>
          </a:xfrm>
          <a:prstGeom prst="roundRect">
            <a:avLst>
              <a:gd name="adj" fmla="val 9375"/>
            </a:avLst>
          </a:prstGeom>
          <a:solidFill>
            <a:srgbClr val="E8F4FD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Patent2Pic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是一款面向专利从业人员的专业工具软件，能够将专利独立权利要求文本自动转换为可视化结构图（功能分解图）。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429000" cy="2560320"/>
          </a:xfrm>
          <a:prstGeom prst="roundRect">
            <a:avLst>
              <a:gd name="adj" fmla="val 5357"/>
            </a:avLst>
          </a:prstGeom>
          <a:solidFill>
            <a:srgbClr val="F6FFED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3520440"/>
            <a:ext cx="777240" cy="77724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3520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983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集成多种大语言模型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智能提取技术特征与结构关系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291840"/>
            <a:ext cx="3429000" cy="2560320"/>
          </a:xfrm>
          <a:prstGeom prst="roundRect">
            <a:avLst>
              <a:gd name="adj" fmla="val 5357"/>
            </a:avLst>
          </a:prstGeom>
          <a:solidFill>
            <a:srgbClr val="E8F4FD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3520440"/>
            <a:ext cx="777240" cy="777240"/>
          </a:xfrm>
          <a:prstGeom prst="ellipse">
            <a:avLst/>
          </a:prstGeom>
          <a:solidFill>
            <a:srgbClr val="2D6AA6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520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4480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4983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基于图形编辑器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自动生成清晰规范的专利功能分解图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291840"/>
            <a:ext cx="3429000" cy="2560320"/>
          </a:xfrm>
          <a:prstGeom prst="roundRect">
            <a:avLst>
              <a:gd name="adj" fmla="val 5357"/>
            </a:avLst>
          </a:prstGeom>
          <a:solidFill>
            <a:srgbClr val="FFF7E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3520440"/>
            <a:ext cx="777240" cy="77724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3520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480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983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从文本到图形一键生成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大幅提升专利分析效率与准确性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0" y="2651760"/>
            <a:ext cx="1828800" cy="1828800"/>
          </a:xfrm>
          <a:prstGeom prst="ellipse">
            <a:avLst/>
          </a:prstGeom>
          <a:solidFill>
            <a:srgbClr val="2D6AA6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0" y="2926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Patent2Pic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智能解析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自动识别权利要求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多条同时处理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03920" y="13716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6FFED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抽取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OpenAI / 智谱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特征+关系自动提取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4709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5120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 · 缩放 · 布局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样式自定义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5720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9F0FF"/>
          </a:solidFill>
          <a:ln w="25400">
            <a:solidFill>
              <a:srgbClr val="722E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709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2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多格式导出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5120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PNG · SVG ·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项目文件保存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530352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25400">
            <a:solidFill>
              <a:srgbClr val="F52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5440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22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权利要求翻译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5852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逐句对照 · 高亮同步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6种语言 · 独立模型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331720"/>
            <a:ext cx="1463040" cy="54864"/>
          </a:xfrm>
          <a:prstGeom prst="rightArrow">
            <a:avLst/>
          </a:prstGeom>
          <a:solidFill>
            <a:srgbClr val="1890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2331720"/>
            <a:ext cx="1463040" cy="54864"/>
          </a:xfrm>
          <a:prstGeom prst="rightArrow">
            <a:avLst/>
          </a:prstGeom>
          <a:solidFill>
            <a:srgbClr val="52C41A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5074920"/>
            <a:ext cx="1463040" cy="54864"/>
          </a:xfrm>
          <a:prstGeom prst="rightArrow">
            <a:avLst/>
          </a:prstGeom>
          <a:solidFill>
            <a:srgbClr val="FA8C16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5074920"/>
            <a:ext cx="1463040" cy="54864"/>
          </a:xfrm>
          <a:prstGeom prst="rightArrow">
            <a:avLst/>
          </a:prstGeom>
          <a:solidFill>
            <a:srgbClr val="722ED1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0" y="4526280"/>
            <a:ext cx="54864" cy="731520"/>
          </a:xfrm>
          <a:prstGeom prst="downArrow">
            <a:avLst/>
          </a:prstGeom>
          <a:solidFill>
            <a:srgbClr val="F5222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完整工作流程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0956" y="146304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E8F4FD"/>
          </a:solidFill>
          <a:ln w="19050">
            <a:solidFill>
              <a:srgbClr val="189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8156" y="1691640"/>
            <a:ext cx="640080" cy="6400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6" name="Text 4"/>
          <p:cNvSpPr/>
          <p:nvPr/>
        </p:nvSpPr>
        <p:spPr>
          <a:xfrm>
            <a:off x="1248156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2396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2396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选择服务商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 API 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测试连接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63724" y="3017520"/>
            <a:ext cx="219456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10" name="Shape 8"/>
          <p:cNvSpPr/>
          <p:nvPr/>
        </p:nvSpPr>
        <p:spPr>
          <a:xfrm>
            <a:off x="2601468" y="146304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E8F4FD"/>
          </a:solidFill>
          <a:ln w="19050">
            <a:solidFill>
              <a:srgbClr val="189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8668" y="1691640"/>
            <a:ext cx="640080" cy="6400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58668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2908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输入文本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2908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粘贴权利要求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自动识别分段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字数统计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74236" y="3017520"/>
            <a:ext cx="219456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1980" y="146304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E8F4FD"/>
          </a:solidFill>
          <a:ln w="19050">
            <a:solidFill>
              <a:srgbClr val="189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9180" y="1691640"/>
            <a:ext cx="640080" cy="64008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691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034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选择要求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0342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多条权利要求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列表切换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目标选择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4748" y="3017520"/>
            <a:ext cx="219456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2492" y="146304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F6FFED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9692" y="1691640"/>
            <a:ext cx="640080" cy="64008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24" name="Text 22"/>
          <p:cNvSpPr/>
          <p:nvPr/>
        </p:nvSpPr>
        <p:spPr>
          <a:xfrm>
            <a:off x="6679692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13932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13932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特征抽取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关系识别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翻译(并行)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95260" y="3017520"/>
            <a:ext cx="219456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28" name="Shape 26"/>
          <p:cNvSpPr/>
          <p:nvPr/>
        </p:nvSpPr>
        <p:spPr>
          <a:xfrm>
            <a:off x="8033004" y="146304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90204" y="1691640"/>
            <a:ext cx="640080" cy="64008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30" name="Text 28"/>
          <p:cNvSpPr/>
          <p:nvPr/>
        </p:nvSpPr>
        <p:spPr>
          <a:xfrm>
            <a:off x="8490204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24444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编辑调整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4444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拖拽/缩放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样式自定义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自动布局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05772" y="3017520"/>
            <a:ext cx="219456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34" name="Shape 32"/>
          <p:cNvSpPr/>
          <p:nvPr/>
        </p:nvSpPr>
        <p:spPr>
          <a:xfrm>
            <a:off x="9843516" y="146304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F9F0FF"/>
          </a:solidFill>
          <a:ln w="19050">
            <a:solidFill>
              <a:srgbClr val="722E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00716" y="1691640"/>
            <a:ext cx="640080" cy="640080"/>
          </a:xfrm>
          <a:prstGeom prst="ellipse">
            <a:avLst/>
          </a:prstGeom>
          <a:solidFill>
            <a:srgbClr val="722ED1"/>
          </a:solidFill>
          <a:ln/>
        </p:spPr>
      </p:sp>
      <p:sp>
        <p:nvSpPr>
          <p:cNvPr id="36" name="Text 34"/>
          <p:cNvSpPr/>
          <p:nvPr/>
        </p:nvSpPr>
        <p:spPr>
          <a:xfrm>
            <a:off x="10300716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934956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2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导出保存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34956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PNG/SVG/JSON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项目文件(.p2p)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抽取与翻译并行执行，翻译不增加分解图生成等待时间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智能抽取 — 核心引擎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2396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E8F4FD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9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权利要求文本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3836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原始输入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22676" y="1828800"/>
            <a:ext cx="457200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8" name="Shape 6"/>
          <p:cNvSpPr/>
          <p:nvPr/>
        </p:nvSpPr>
        <p:spPr>
          <a:xfrm>
            <a:off x="3625596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6FFED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7036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17036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特征抽取+关系识别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65876" y="1828800"/>
            <a:ext cx="457200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8796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0236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节点+边+分组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09076" y="1828800"/>
            <a:ext cx="457200" cy="45720"/>
          </a:xfrm>
          <a:prstGeom prst="rightArrow">
            <a:avLst/>
          </a:prstGeom>
          <a:solidFill>
            <a:srgbClr val="2D6AA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11996" y="1371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9F0FF"/>
          </a:solidFill>
          <a:ln w="25400">
            <a:solidFill>
              <a:srgbClr val="722E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3436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2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可视化图形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03436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交互式分解图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3816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自动识别内容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" y="2926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200400"/>
            <a:ext cx="320040" cy="32004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6245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部件节点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6245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技术部件/组成部分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11296" y="2926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48456" y="3200400"/>
            <a:ext cx="320040" cy="32004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26" name="Text 24"/>
          <p:cNvSpPr/>
          <p:nvPr/>
        </p:nvSpPr>
        <p:spPr>
          <a:xfrm>
            <a:off x="405993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子系统节点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5993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多部件组成的模块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08776" y="2926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3200400"/>
            <a:ext cx="320040" cy="32004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30" name="Text 28"/>
          <p:cNvSpPr/>
          <p:nvPr/>
        </p:nvSpPr>
        <p:spPr>
          <a:xfrm>
            <a:off x="675741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特征节点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5741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具体技术特征/属性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06256" y="2926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189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43416" y="3200400"/>
            <a:ext cx="320040" cy="320040"/>
          </a:xfrm>
          <a:prstGeom prst="ellipse">
            <a:avLst/>
          </a:prstGeom>
          <a:solidFill>
            <a:srgbClr val="1890FF"/>
          </a:solidFill>
          <a:ln/>
        </p:spPr>
      </p:sp>
      <p:sp>
        <p:nvSpPr>
          <p:cNvPr id="34" name="Text 32"/>
          <p:cNvSpPr/>
          <p:nvPr/>
        </p:nvSpPr>
        <p:spPr>
          <a:xfrm>
            <a:off x="945489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454896" y="3429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空间位置关系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" y="4389120"/>
            <a:ext cx="320040" cy="32004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38" name="Text 36"/>
          <p:cNvSpPr/>
          <p:nvPr/>
        </p:nvSpPr>
        <p:spPr>
          <a:xfrm>
            <a:off x="1362456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动作关系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62456" y="4617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功能动作关系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11296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48456" y="4389120"/>
            <a:ext cx="320040" cy="32004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42" name="Text 40"/>
          <p:cNvSpPr/>
          <p:nvPr/>
        </p:nvSpPr>
        <p:spPr>
          <a:xfrm>
            <a:off x="4059936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包含关系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59936" y="4617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层级包含关系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08776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45936" y="4389120"/>
            <a:ext cx="320040" cy="320040"/>
          </a:xfrm>
          <a:prstGeom prst="ellipse">
            <a:avLst/>
          </a:prstGeom>
          <a:solidFill>
            <a:srgbClr val="722ED1"/>
          </a:solidFill>
          <a:ln/>
        </p:spPr>
      </p:sp>
      <p:sp>
        <p:nvSpPr>
          <p:cNvPr id="46" name="Text 44"/>
          <p:cNvSpPr/>
          <p:nvPr/>
        </p:nvSpPr>
        <p:spPr>
          <a:xfrm>
            <a:off x="6757416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逻辑关系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757416" y="4617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条件/因果逻辑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06256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2D6A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43416" y="4389120"/>
            <a:ext cx="320040" cy="320040"/>
          </a:xfrm>
          <a:prstGeom prst="ellipse">
            <a:avLst/>
          </a:prstGeom>
          <a:solidFill>
            <a:srgbClr val="2D6AA6"/>
          </a:solidFill>
          <a:ln/>
        </p:spPr>
      </p:sp>
      <p:sp>
        <p:nvSpPr>
          <p:cNvPr id="50" name="Text 48"/>
          <p:cNvSpPr/>
          <p:nvPr/>
        </p:nvSpPr>
        <p:spPr>
          <a:xfrm>
            <a:off x="9454896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限定框/分组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454896" y="4617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相关部件归类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 &amp; 翻译功能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8F4FD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 AI 服务商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31720"/>
            <a:ext cx="548640" cy="548640"/>
          </a:xfrm>
          <a:prstGeom prst="ellipse">
            <a:avLst/>
          </a:prstGeom>
          <a:solidFill>
            <a:srgbClr val="2D6AA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AI (GLM)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推荐模型: glm-4-flash  |  国产大模型，推荐使用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657600"/>
            <a:ext cx="548640" cy="54864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推荐模型: deepseek-chat  |  深度求索大模型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75488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983480"/>
            <a:ext cx="548640" cy="54864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303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推荐模型: gpt-4o  |  支持所有 OpenAI API 格式服务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F6FFED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权利要求翻译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83680" y="21031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890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21031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21031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52C41A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翻译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0" y="21031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6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92640" y="21031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A8C16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21031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对照阅读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逐句对照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原文与翻译一句一对照呈现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30175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高亮同步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5256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选中节点时原文翻译同步高亮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069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6种语言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中/英/日/韩/德/法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61120" y="4069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独立模型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5256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翻译可使用不同AI模型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92240" y="51206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166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并行执行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5532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翻译与抽取并行，零额外等待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61120" y="51206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5166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78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容错重试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052560" y="5532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单句失败可独立重试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可视化编辑 &amp; 图例体系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FFF7E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编辑能力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画布操作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2103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缩放 / 平移 / 适配 / 居中  |  右键菜单  |  自动布局（DAG）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4572000" cy="9144"/>
          </a:xfrm>
          <a:prstGeom prst="roundRect">
            <a:avLst/>
          </a:prstGeom>
          <a:solidFill>
            <a:srgbClr val="E8D5B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54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节点编辑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双击编辑名称/类型/对照  |  拖拽移动  |  添加连接/限定框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572000" cy="9144"/>
          </a:xfrm>
          <a:prstGeom prst="roundRect">
            <a:avLst/>
          </a:prstGeom>
          <a:solidFill>
            <a:srgbClr val="E8D5B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样式自定义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4206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填充/边框/圆角/尺寸  |  字体/字号/颜色  |  线条/箭头/标签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5074920"/>
            <a:ext cx="4572000" cy="9144"/>
          </a:xfrm>
          <a:prstGeom prst="roundRect">
            <a:avLst/>
          </a:prstGeom>
          <a:solidFill>
            <a:srgbClr val="E8D5B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257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5257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每条权利要求独立标签  |  切换时自动保存状态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图例体系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节点类型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3774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8F4FD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377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9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138160" y="23774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7E6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377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子系统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2743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subsystem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784080" y="23774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6FFED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2377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2743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关系类型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36576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1890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36393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实线 + 实心三角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425196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52C41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233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动作关系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95360" y="4233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实线 + 实心三角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48463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A8C16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4828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包含关系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9536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 + 空心三角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544068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722ED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5422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逻辑关系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95360" y="5422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点划线 + 菱形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&amp; 项目管理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F9F0FF"/>
          </a:solidFill>
          <a:ln w="19050">
            <a:solidFill>
              <a:srgbClr val="722E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1D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多格式导出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89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28600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1890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9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.png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位图图片，适合插入文档、演示文稿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56616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52C4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C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3520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.svg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931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矢量图，适合高质量打印和进一步编辑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846320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A8C1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846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8C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4800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.json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结构化数据，适合程序处理和数据交换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8F4FD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240280"/>
            <a:ext cx="502920" cy="502920"/>
          </a:xfrm>
          <a:prstGeom prst="ellipse">
            <a:avLst/>
          </a:prstGeom>
          <a:solidFill>
            <a:srgbClr val="2D6AA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 (.p2p)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154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保存完整编辑状态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包含原文、图形数据、标签页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61120" y="21031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2240280"/>
            <a:ext cx="502920" cy="50292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33" name="Text 31"/>
          <p:cNvSpPr/>
          <p:nvPr/>
        </p:nvSpPr>
        <p:spPr>
          <a:xfrm>
            <a:off x="97840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256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52560" y="3154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30 秒自动保存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关闭时自动保存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下次启动自动恢复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42062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4343400"/>
            <a:ext cx="502920" cy="50292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4937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/ 重做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52578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Ctrl+Z 撤销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Ctrl+Shift+Z / Ctrl+Y 重做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42062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22E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4343400"/>
            <a:ext cx="502920" cy="502920"/>
          </a:xfrm>
          <a:prstGeom prst="ellipse">
            <a:avLst/>
          </a:prstGeom>
          <a:solidFill>
            <a:srgbClr val="722ED1"/>
          </a:solidFill>
          <a:ln/>
        </p:spPr>
      </p:sp>
      <p:sp>
        <p:nvSpPr>
          <p:cNvPr id="43" name="Text 41"/>
          <p:cNvSpPr/>
          <p:nvPr/>
        </p:nvSpPr>
        <p:spPr>
          <a:xfrm>
            <a:off x="9784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52560" y="4937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22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52560" y="52578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Ctrl+A 全选 | Delete 删除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 取消选中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&amp; 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0FAF5"/>
          </a:solidFill>
          <a:ln w="19050">
            <a:solidFill>
              <a:srgbClr val="42B8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" y="1508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B8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3836" y="1965960"/>
            <a:ext cx="2926080" cy="18288"/>
          </a:xfrm>
          <a:prstGeom prst="roundRect">
            <a:avLst/>
          </a:prstGeom>
          <a:solidFill>
            <a:srgbClr val="42B883"/>
          </a:solidFill>
          <a:ln/>
        </p:spPr>
      </p:sp>
      <p:sp>
        <p:nvSpPr>
          <p:cNvPr id="7" name="Text 5"/>
          <p:cNvSpPr/>
          <p:nvPr/>
        </p:nvSpPr>
        <p:spPr>
          <a:xfrm>
            <a:off x="1065276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Vue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5276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5276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Vite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8556" y="13716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E8F4FD"/>
          </a:solidFill>
          <a:ln w="19050">
            <a:solidFill>
              <a:srgbClr val="40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1436" y="1508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组件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31436" y="1965960"/>
            <a:ext cx="2926080" cy="18288"/>
          </a:xfrm>
          <a:prstGeom prst="roundRect">
            <a:avLst/>
          </a:prstGeom>
          <a:solidFill>
            <a:srgbClr val="40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22876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Element Plus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2876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响应式布局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2876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三栏式架构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6156" y="13716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7E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9036" y="1508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图形引擎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9036" y="1965960"/>
            <a:ext cx="2926080" cy="18288"/>
          </a:xfrm>
          <a:prstGeom prst="roundRect">
            <a:avLst/>
          </a:prstGeom>
          <a:solidFill>
            <a:srgbClr val="FA8C16"/>
          </a:solidFill>
          <a:ln/>
        </p:spPr>
      </p:sp>
      <p:sp>
        <p:nvSpPr>
          <p:cNvPr id="19" name="Text 17"/>
          <p:cNvSpPr/>
          <p:nvPr/>
        </p:nvSpPr>
        <p:spPr>
          <a:xfrm>
            <a:off x="8380476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AntV X6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80476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ELK 布局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0476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DAG 算法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0956" y="37947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BE6"/>
          </a:solidFill>
          <a:ln w="19050">
            <a:solidFill>
              <a:srgbClr val="FFD8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8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73836" y="4389120"/>
            <a:ext cx="2926080" cy="18288"/>
          </a:xfrm>
          <a:prstGeom prst="roundRect">
            <a:avLst/>
          </a:prstGeom>
          <a:solidFill>
            <a:srgbClr val="FFD859"/>
          </a:solidFill>
          <a:ln/>
        </p:spPr>
      </p:sp>
      <p:sp>
        <p:nvSpPr>
          <p:cNvPr id="25" name="Text 23"/>
          <p:cNvSpPr/>
          <p:nvPr/>
        </p:nvSpPr>
        <p:spPr>
          <a:xfrm>
            <a:off x="1065276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Pinia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5276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LocalStorage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5276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自动持久化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48556" y="37947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E8F4FD"/>
          </a:solidFill>
          <a:ln w="19050">
            <a:solidFill>
              <a:srgbClr val="2D6A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1436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桌面框架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31436" y="4389120"/>
            <a:ext cx="2926080" cy="18288"/>
          </a:xfrm>
          <a:prstGeom prst="roundRect">
            <a:avLst/>
          </a:prstGeom>
          <a:solidFill>
            <a:srgbClr val="2D6AA6"/>
          </a:solidFill>
          <a:ln/>
        </p:spPr>
      </p:sp>
      <p:sp>
        <p:nvSpPr>
          <p:cNvPr id="31" name="Text 29"/>
          <p:cNvSpPr/>
          <p:nvPr/>
        </p:nvSpPr>
        <p:spPr>
          <a:xfrm>
            <a:off x="4722876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Tauri 2.0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22876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Rust 后端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22876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跨平台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06156" y="379476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6FFED"/>
          </a:solidFill>
          <a:ln w="19050">
            <a:solidFill>
              <a:srgbClr val="52C4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9036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89036" y="4389120"/>
            <a:ext cx="2926080" cy="18288"/>
          </a:xfrm>
          <a:prstGeom prst="roundRect">
            <a:avLst/>
          </a:prstGeom>
          <a:solidFill>
            <a:srgbClr val="52C41A"/>
          </a:solidFill>
          <a:ln/>
        </p:spPr>
      </p:sp>
      <p:sp>
        <p:nvSpPr>
          <p:cNvPr id="37" name="Text 35"/>
          <p:cNvSpPr/>
          <p:nvPr/>
        </p:nvSpPr>
        <p:spPr>
          <a:xfrm>
            <a:off x="8380476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DeepSeek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80476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OpenAI API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80476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智谱 GLM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三栏式布局：左侧权利要求输入  |  中间画布工作区  |  右侧样式编辑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Patent2Pic — 价值总结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0" y="1371600"/>
            <a:ext cx="2130552" cy="27432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790956" y="182880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243B55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8196" y="2103120"/>
            <a:ext cx="822960" cy="822960"/>
          </a:xfrm>
          <a:prstGeom prst="ellipse">
            <a:avLst/>
          </a:prstGeom>
          <a:solidFill>
            <a:srgbClr val="52C41A"/>
          </a:solidFill>
          <a:ln/>
        </p:spPr>
      </p:sp>
      <p:sp>
        <p:nvSpPr>
          <p:cNvPr id="6" name="Text 4"/>
          <p:cNvSpPr/>
          <p:nvPr/>
        </p:nvSpPr>
        <p:spPr>
          <a:xfrm>
            <a:off x="15681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2396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C4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智能驱动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8116" y="3657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多种大模型自动提取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技术特征与结构关系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4156" y="182880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243B55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1396" y="2103120"/>
            <a:ext cx="822960" cy="8229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43113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25596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71316" y="3657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从文本到可视化图形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自动布局，即时呈现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7356" y="182880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243B55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4596" y="2103120"/>
            <a:ext cx="822960" cy="822960"/>
          </a:xfrm>
          <a:prstGeom prst="ellipse">
            <a:avLst/>
          </a:prstGeom>
          <a:solidFill>
            <a:srgbClr val="FA8C16"/>
          </a:solidFill>
          <a:ln/>
        </p:spPr>
      </p:sp>
      <p:sp>
        <p:nvSpPr>
          <p:cNvPr id="16" name="Text 14"/>
          <p:cNvSpPr/>
          <p:nvPr/>
        </p:nvSpPr>
        <p:spPr>
          <a:xfrm>
            <a:off x="70545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8796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8C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所见即所得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4516" y="3657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拖拽编辑 · 样式自定义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 · 多格式导出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0556" y="1828800"/>
            <a:ext cx="2377440" cy="3200400"/>
          </a:xfrm>
          <a:prstGeom prst="roundRect">
            <a:avLst>
              <a:gd name="adj" fmla="val 5769"/>
            </a:avLst>
          </a:prstGeom>
          <a:solidFill>
            <a:srgbClr val="243B55"/>
          </a:solidFill>
          <a:ln w="25400">
            <a:solidFill>
              <a:srgbClr val="722E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97796" y="2103120"/>
            <a:ext cx="822960" cy="822960"/>
          </a:xfrm>
          <a:prstGeom prst="ellipse">
            <a:avLst/>
          </a:prstGeom>
          <a:solidFill>
            <a:srgbClr val="722ED1"/>
          </a:solidFill>
          <a:ln/>
        </p:spPr>
      </p:sp>
      <p:sp>
        <p:nvSpPr>
          <p:cNvPr id="21" name="Text 19"/>
          <p:cNvSpPr/>
          <p:nvPr/>
        </p:nvSpPr>
        <p:spPr>
          <a:xfrm>
            <a:off x="97977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i18n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11996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22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多语言翻译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57716" y="36576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6种语言逐句对照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高亮同步 · 独立模型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让专利分析更高效、更直观、更智能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Patent2Pic 功能特性与工作流程</dc:subject>
  <dc:creator>Patent2Pic</dc:creator>
  <cp:lastModifiedBy>Patent2Pic</cp:lastModifiedBy>
  <cp:revision>1</cp:revision>
  <dcterms:created xsi:type="dcterms:W3CDTF">2026-06-21T12:45:31Z</dcterms:created>
  <dcterms:modified xsi:type="dcterms:W3CDTF">2026-06-21T12:45:31Z</dcterms:modified>
</cp:coreProperties>
</file>